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概率论导论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/>
              <a:t>样本空间（sample space）描述实验全部可能结果。</a:t>
            </a:r>
          </a:p>
          <a:p>
            <a:pPr lvl="1"/>
            <a:r>
              <a:rPr sz="1800"/>
              <a:t>事件（event）是样本空间的子集。</a:t>
            </a:r>
          </a:p>
          <a:p>
            <a:pPr lvl="1"/>
            <a:r>
              <a:rPr sz="1800"/>
              <a:t>概率函数需要满足非负性、规范性与可列可加性。</a:t>
            </a:r>
          </a:p>
        </p:txBody>
      </p:sp>
      <p:pic>
        <p:nvPicPr>
          <p:cNvPr id="4" name="Picture 3" descr="demo_cour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325880"/>
            <a:ext cx="3108960" cy="1813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846320" y="452628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图 1：概率树示意图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30936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Lecture 01 | 2026 Spring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离散型随机变量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50292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676400"/>
                <a:gridCol w="1676400"/>
              </a:tblGrid>
              <a:tr h="518160">
                <a:tc>
                  <a:txBody>
                    <a:bodyPr/>
                    <a:lstStyle/>
                    <a:p>
                      <a:r>
                        <a:t>变量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取值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概率</a:t>
                      </a:r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0.4</a:t>
                      </a:r>
                    </a:p>
                  </a:txBody>
                  <a:tcPr/>
                </a:tc>
              </a:tr>
              <a:tr h="518160">
                <a:tc>
                  <a:txBody>
                    <a:bodyPr/>
                    <a:lstStyle/>
                    <a:p>
                      <a: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28803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/>
              <a:t>表 1：离散型随机变量分布示例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0" y="1280160"/>
            <a:ext cx="2194560" cy="100584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800"/>
              <a:t>事件 A -&gt; 事件 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